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FB3"/>
              </a:gs>
              <a:gs pos="100000">
                <a:srgbClr val="009ED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nu_signature_kr_e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3868615" cy="50292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418320" y="1463040"/>
            <a:ext cx="2194560" cy="21945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nu_emblem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600200"/>
            <a:ext cx="1915613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19456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AI 기반 대학·산학협력단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규정집 통합 검색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맑은 고딕"/>
              </a:rPr>
              <a:t>규정 426건을 조·항 단위로 검색하고, 말로 물어보면 근거 조항과 함께 답하는 서비스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맑은 고딕"/>
              </a:rPr>
              <a:t>— 2026년 9월 기준 개발 현황(T1~T20) 보고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6F5FC"/>
                </a:solidFill>
                <a:latin typeface="맑은 고딕"/>
              </a:rPr>
              <a:t>경상국립대학교 정보전산처  ·  총무과(대학 규정) / 산학협력단 산학연구과(산학협력단 규정)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한 장 요약 — 무엇을 만들었고, 지금 어디까지 왔나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600200"/>
            <a:ext cx="5349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09728" cy="20574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9EDB"/>
                </a:solidFill>
                <a:latin typeface="맑은 고딕"/>
              </a:rPr>
              <a:t>무엇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2B353B"/>
                </a:solidFill>
                <a:latin typeface="맑은 고딕"/>
              </a:rPr>
              <a:t>학교 규정 426건(대학 363 + 산학협력단 63)을 조·항 9,258개로 쪼개 넣고,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B353B"/>
                </a:solidFill>
                <a:latin typeface="맑은 고딕"/>
              </a:rPr>
              <a:t>검색창 하나로 찾아주는 서비스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349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109728" cy="2057400"/>
          </a:xfrm>
          <a:prstGeom prst="rect">
            <a:avLst/>
          </a:prstGeom>
          <a:solidFill>
            <a:srgbClr val="007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7FB3"/>
                </a:solidFill>
                <a:latin typeface="맑은 고딕"/>
              </a:rPr>
              <a:t>두 가지 사용법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2B353B"/>
                </a:solidFill>
                <a:latin typeface="맑은 고딕"/>
              </a:rPr>
              <a:t>🔍 검색: '휴학' → 0.1초에 관련 조항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B353B"/>
                </a:solidFill>
                <a:latin typeface="맑은 고딕"/>
              </a:rPr>
              <a:t>💬 AI에게 질문하기: '휴학 신청은 언제까지?' → 수 초에 답변 + 근거 조항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5349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40480"/>
            <a:ext cx="109728" cy="2057400"/>
          </a:xfrm>
          <a:prstGeom prst="rect">
            <a:avLst/>
          </a:prstGeom>
          <a:solidFill>
            <a:srgbClr val="43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2336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43525A"/>
                </a:solidFill>
                <a:latin typeface="맑은 고딕"/>
              </a:rPr>
              <a:t>믿을 수 있나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8056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2B353B"/>
                </a:solidFill>
                <a:latin typeface="맑은 고딕"/>
              </a:rPr>
              <a:t>AI는 검색으로 찾은 조항만 참고해 답하고, 근거가 없으면 '찾을 수 없습니다'.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B353B"/>
                </a:solidFill>
                <a:latin typeface="맑은 고딕"/>
              </a:rPr>
              <a:t>자동 시험 15+7+23문항 모두 100% 통과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40480"/>
            <a:ext cx="5349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840480"/>
            <a:ext cx="109728" cy="2057400"/>
          </a:xfrm>
          <a:prstGeom prst="rect">
            <a:avLst/>
          </a:prstGeom>
          <a:solidFill>
            <a:srgbClr val="B3A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2336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A177"/>
                </a:solidFill>
                <a:latin typeface="맑은 고딕"/>
              </a:rPr>
              <a:t>어디서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8056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2B353B"/>
                </a:solidFill>
                <a:latin typeface="맑은 고딕"/>
              </a:rPr>
              <a:t>학내망 https://gapps.gnu.ac.kr/regulation/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2B353B"/>
                </a:solidFill>
                <a:latin typeface="맑은 고딕"/>
              </a:rPr>
              <a:t>(업무보고 서버와 포트 공유, 현재 정보전산처 공개 단계)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6737A"/>
                </a:solidFill>
                <a:latin typeface="맑은 고딕"/>
              </a:rPr>
              <a:t>담당자가 할 일은 셋: 규정이 바뀌면 명령 한 줄(refresh_all.py) · 가끔 품질 점검 · 이상 답변 신고 시 근거·로그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추진배경 및 필요성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>
                <a:solidFill>
                  <a:srgbClr val="2B353B"/>
                </a:solidFill>
                <a:latin typeface="맑은 고딕"/>
              </a:rPr>
              <a:t>•  기존 규정집 조회는 '규정명' 검색만 가능 → 조·항 단위 세부 내용을 찾기 어려움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>
                <a:solidFill>
                  <a:srgbClr val="2B353B"/>
                </a:solidFill>
                <a:latin typeface="맑은 고딕"/>
              </a:rPr>
              <a:t>•  대학 규정과 산학협력단 규정이 서로 다른 사이트에 이원화 → 검색·조회의 일관성 결여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>
                <a:solidFill>
                  <a:srgbClr val="2B353B"/>
                </a:solidFill>
                <a:latin typeface="맑은 고딕"/>
              </a:rPr>
              <a:t>•  규정 용어(예: '퇴학')와 사용자 말(예: '자퇴')이 달라 검색이 안 되는 경우가 잦음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>
                <a:solidFill>
                  <a:srgbClr val="2B353B"/>
                </a:solidFill>
                <a:latin typeface="맑은 고딕"/>
              </a:rPr>
              <a:t>•  담당부서·시행일·폐지 여부처럼 '누구에게 물어야 하고, 지금 유효한가'를 확인하기 번거로움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108813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3525A"/>
                </a:solidFill>
                <a:latin typeface="맑은 고딕"/>
              </a:rPr>
              <a:t>관련 부서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2B353B"/>
                </a:solidFill>
                <a:latin typeface="맑은 고딕"/>
              </a:rPr>
              <a:t>•  (대학) 총무과 055-772-0334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2B353B"/>
                </a:solidFill>
                <a:latin typeface="맑은 고딕"/>
              </a:rPr>
              <a:t>•  (산학협력단) 산학연구과 055-772-0211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3525A"/>
                </a:solidFill>
                <a:latin typeface="맑은 고딕"/>
              </a:rPr>
              <a:t>벤치마킹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2B353B"/>
                </a:solidFill>
                <a:latin typeface="맑은 고딕"/>
              </a:rPr>
              <a:t>•  규정 카테고리 구분: 충남대학교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2B353B"/>
                </a:solidFill>
                <a:latin typeface="맑은 고딕"/>
              </a:rPr>
              <a:t>•  조회 형식: 연세대학교(rules.yonsei.ac.kr)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프로젝트 목적 &amp; 대상 사용자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43525A"/>
                </a:solidFill>
                <a:latin typeface="맑은 고딕"/>
              </a:rPr>
              <a:t>🎯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대학 + 산학협력단 규정을 한 검색창에서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규정명뿐 아니라 조·항 단위 본문까지 검색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키워드 + 의미(AI) 결합으로 자연어 질문도 처리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규정 + 담당부서·연락처 + 시행일을 원스톱으로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말로 물으면 근거 조항과 함께 답변 (AI 질문하기)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43525A"/>
                </a:solidFill>
                <a:latin typeface="맑은 고딕"/>
              </a:rPr>
              <a:t>👥 대상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1차: 학내 구성원 (학생·교원·직원)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2차: 규정 관리 담당자 (총무과·산학연구과)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>
                <a:solidFill>
                  <a:srgbClr val="2B353B"/>
                </a:solidFill>
                <a:latin typeface="맑은 고딕"/>
              </a:rPr>
              <a:t>•  운영자: 정보전산처 (데이터 갱신·서버 운영)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개발 여정 한눈에 (T1 → T20)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011680"/>
            <a:ext cx="2148840" cy="2286000"/>
          </a:xfrm>
          <a:prstGeom prst="round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T1~T5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  <a:latin typeface="맑은 고딕"/>
              </a:rPr>
              <a:t>검색 시스템</a:t>
            </a:r>
          </a:p>
          <a:p>
            <a:pPr algn="ctr">
              <a:spcBef>
                <a:spcPts val="1200"/>
              </a:spcBef>
            </a:pPr>
            <a:r>
              <a:rPr sz="1150">
                <a:solidFill>
                  <a:srgbClr val="F0F6FA"/>
                </a:solidFill>
                <a:latin typeface="맑은 고딕"/>
              </a:rPr>
              <a:t>수집·청킹·벡터DB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하이브리드 검색·웹 화면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품질 100%, 0.05초</a:t>
            </a:r>
          </a:p>
        </p:txBody>
      </p:sp>
      <p:sp>
        <p:nvSpPr>
          <p:cNvPr id="8" name="Chevron 7"/>
          <p:cNvSpPr/>
          <p:nvPr/>
        </p:nvSpPr>
        <p:spPr>
          <a:xfrm>
            <a:off x="2659760" y="3017520"/>
            <a:ext cx="237744" cy="457200"/>
          </a:xfrm>
          <a:prstGeom prst="chevron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61488" y="2011680"/>
            <a:ext cx="2148840" cy="2286000"/>
          </a:xfrm>
          <a:prstGeom prst="roundRect">
            <a:avLst/>
          </a:prstGeom>
          <a:solidFill>
            <a:srgbClr val="007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T6~T10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  <a:latin typeface="맑은 고딕"/>
              </a:rPr>
              <a:t>AI 질문하기</a:t>
            </a:r>
          </a:p>
          <a:p>
            <a:pPr algn="ctr">
              <a:spcBef>
                <a:spcPts val="1200"/>
              </a:spcBef>
            </a:pPr>
            <a:r>
              <a:rPr sz="1150">
                <a:solidFill>
                  <a:srgbClr val="F0F6FA"/>
                </a:solidFill>
                <a:latin typeface="맑은 고딕"/>
              </a:rPr>
              <a:t>검색 근거만으로 답변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환각 방지 가드레일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로그·비용·장애 대응</a:t>
            </a:r>
          </a:p>
        </p:txBody>
      </p:sp>
      <p:sp>
        <p:nvSpPr>
          <p:cNvPr id="10" name="Chevron 9"/>
          <p:cNvSpPr/>
          <p:nvPr/>
        </p:nvSpPr>
        <p:spPr>
          <a:xfrm>
            <a:off x="4918328" y="3017520"/>
            <a:ext cx="237744" cy="457200"/>
          </a:xfrm>
          <a:prstGeom prst="chevron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0056" y="2011680"/>
            <a:ext cx="2148840" cy="2286000"/>
          </a:xfrm>
          <a:prstGeom prst="roundRect">
            <a:avLst/>
          </a:prstGeom>
          <a:solidFill>
            <a:srgbClr val="43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T11~T15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  <a:latin typeface="맑은 고딕"/>
              </a:rPr>
              <a:t>정확도 개선</a:t>
            </a:r>
          </a:p>
          <a:p>
            <a:pPr algn="ctr">
              <a:spcBef>
                <a:spcPts val="1200"/>
              </a:spcBef>
            </a:pPr>
            <a:r>
              <a:rPr sz="1150">
                <a:solidFill>
                  <a:srgbClr val="F0F6FA"/>
                </a:solidFill>
                <a:latin typeface="맑은 고딕"/>
              </a:rPr>
              <a:t>모델 교체 2회 → 롤백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재순위화·문맥 보강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질의 재작성, Claude 전환</a:t>
            </a:r>
          </a:p>
        </p:txBody>
      </p:sp>
      <p:sp>
        <p:nvSpPr>
          <p:cNvPr id="12" name="Chevron 11"/>
          <p:cNvSpPr/>
          <p:nvPr/>
        </p:nvSpPr>
        <p:spPr>
          <a:xfrm>
            <a:off x="7176896" y="3017520"/>
            <a:ext cx="237744" cy="457200"/>
          </a:xfrm>
          <a:prstGeom prst="chevron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8624" y="2011680"/>
            <a:ext cx="2148840" cy="2286000"/>
          </a:xfrm>
          <a:prstGeom prst="roundRect">
            <a:avLst/>
          </a:prstGeom>
          <a:solidFill>
            <a:srgbClr val="2F3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T16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  <a:latin typeface="맑은 고딕"/>
              </a:rPr>
              <a:t>운영 배포</a:t>
            </a:r>
          </a:p>
          <a:p>
            <a:pPr algn="ctr">
              <a:spcBef>
                <a:spcPts val="1200"/>
              </a:spcBef>
            </a:pPr>
            <a:r>
              <a:rPr sz="1150">
                <a:solidFill>
                  <a:srgbClr val="F0F6FA"/>
                </a:solidFill>
                <a:latin typeface="맑은 고딕"/>
              </a:rPr>
              <a:t>리눅스 서버 + systemd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nginx /regulation/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(업무보고와 포트 공유)</a:t>
            </a:r>
          </a:p>
        </p:txBody>
      </p:sp>
      <p:sp>
        <p:nvSpPr>
          <p:cNvPr id="14" name="Chevron 13"/>
          <p:cNvSpPr/>
          <p:nvPr/>
        </p:nvSpPr>
        <p:spPr>
          <a:xfrm>
            <a:off x="9435464" y="3017520"/>
            <a:ext cx="237744" cy="457200"/>
          </a:xfrm>
          <a:prstGeom prst="chevron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37192" y="2011680"/>
            <a:ext cx="2148840" cy="2286000"/>
          </a:xfrm>
          <a:prstGeom prst="roundRect">
            <a:avLst/>
          </a:prstGeom>
          <a:solidFill>
            <a:srgbClr val="B3A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T17~T20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  <a:latin typeface="맑은 고딕"/>
              </a:rPr>
              <a:t>화면·데이터</a:t>
            </a:r>
          </a:p>
          <a:p>
            <a:pPr algn="ctr">
              <a:spcBef>
                <a:spcPts val="1200"/>
              </a:spcBef>
            </a:pPr>
            <a:r>
              <a:rPr sz="1150">
                <a:solidFill>
                  <a:srgbClr val="F0F6FA"/>
                </a:solidFill>
                <a:latin typeface="맑은 고딕"/>
              </a:rPr>
              <a:t>카테고리 정리·공식 VI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시행일 표시·폐지 제외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학적 평가셋 23문항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66737A"/>
                </a:solidFill>
                <a:latin typeface="맑은 고딕"/>
              </a:rPr>
              <a:t>처음 계획(T1~T5)은 '검색'까지였고, 그 뒤 AI 질문하기·정확도 개선·운영 배포·다듬기가 이어졌습니다.</a:t>
            </a:r>
          </a:p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66737A"/>
                </a:solidFill>
                <a:latin typeface="맑은 고딕"/>
              </a:rPr>
              <a:t>특히 T11·T13처럼 '해봤지만 되돌린' 단계도 기록해, 왜 지금 구조가 됐는지 근거를 남겼습니다.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검색은 어떻게 찾아내나 — 두 가지 방법을 섞어 씁니다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737360"/>
            <a:ext cx="21488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9EDB"/>
                </a:solidFill>
                <a:latin typeface="맑은 고딕"/>
              </a:rPr>
              <a:t>규정 원문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1874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353B"/>
                </a:solidFill>
                <a:latin typeface="맑은 고딕"/>
              </a:rPr>
              <a:t>국가법령정보센터·학교 홈페이지·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353B"/>
                </a:solidFill>
                <a:latin typeface="맑은 고딕"/>
              </a:rPr>
              <a:t>산학협력단 규정집에서 426건 자동 수집</a:t>
            </a:r>
          </a:p>
        </p:txBody>
      </p:sp>
      <p:sp>
        <p:nvSpPr>
          <p:cNvPr id="11" name="Chevron 10"/>
          <p:cNvSpPr/>
          <p:nvPr/>
        </p:nvSpPr>
        <p:spPr>
          <a:xfrm>
            <a:off x="2659760" y="2880360"/>
            <a:ext cx="237744" cy="457200"/>
          </a:xfrm>
          <a:prstGeom prst="chevron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61488" y="1737360"/>
            <a:ext cx="21488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98648" y="1874519"/>
            <a:ext cx="457200" cy="457200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42316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9EDB"/>
                </a:solidFill>
                <a:latin typeface="맑은 고딕"/>
              </a:rPr>
              <a:t>조·항 단위로 쪼개기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880360"/>
            <a:ext cx="1874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353B"/>
                </a:solidFill>
                <a:latin typeface="맑은 고딕"/>
              </a:rPr>
              <a:t>'제31조(휴학) ①…' 단위 9,258개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353B"/>
                </a:solidFill>
                <a:latin typeface="맑은 고딕"/>
              </a:rPr>
              <a:t>각 조문에 소속 장(章) 제목 부착</a:t>
            </a:r>
          </a:p>
        </p:txBody>
      </p:sp>
      <p:sp>
        <p:nvSpPr>
          <p:cNvPr id="16" name="Chevron 15"/>
          <p:cNvSpPr/>
          <p:nvPr/>
        </p:nvSpPr>
        <p:spPr>
          <a:xfrm>
            <a:off x="4918328" y="2880360"/>
            <a:ext cx="237744" cy="457200"/>
          </a:xfrm>
          <a:prstGeom prst="chevron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0056" y="1737360"/>
            <a:ext cx="21488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57216" y="1874519"/>
            <a:ext cx="457200" cy="457200"/>
          </a:xfrm>
          <a:prstGeom prst="ellipse">
            <a:avLst/>
          </a:prstGeom>
          <a:solidFill>
            <a:srgbClr val="007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42316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7FB3"/>
                </a:solidFill>
                <a:latin typeface="맑은 고딕"/>
              </a:rPr>
              <a:t>뜻을 숫자로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880360"/>
            <a:ext cx="1874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353B"/>
                </a:solidFill>
                <a:latin typeface="맑은 고딕"/>
              </a:rPr>
              <a:t>한국어 AI(KR-SBERT)가 문장의 '뜻'을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353B"/>
                </a:solidFill>
                <a:latin typeface="맑은 고딕"/>
              </a:rPr>
              <a:t>숫자 벡터로 → 벡터DB(ChromaDB)</a:t>
            </a:r>
          </a:p>
        </p:txBody>
      </p:sp>
      <p:sp>
        <p:nvSpPr>
          <p:cNvPr id="21" name="Chevron 20"/>
          <p:cNvSpPr/>
          <p:nvPr/>
        </p:nvSpPr>
        <p:spPr>
          <a:xfrm>
            <a:off x="7176896" y="2880360"/>
            <a:ext cx="237744" cy="457200"/>
          </a:xfrm>
          <a:prstGeom prst="chevron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78624" y="1737360"/>
            <a:ext cx="21488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15784" y="1874519"/>
            <a:ext cx="457200" cy="457200"/>
          </a:xfrm>
          <a:prstGeom prst="ellipse">
            <a:avLst/>
          </a:prstGeom>
          <a:solidFill>
            <a:srgbClr val="43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맑은 고딕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784" y="242316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43525A"/>
                </a:solidFill>
                <a:latin typeface="맑은 고딕"/>
              </a:rPr>
              <a:t>두 방법으로 찾기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4" y="2880360"/>
            <a:ext cx="1874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353B"/>
                </a:solidFill>
                <a:latin typeface="맑은 고딕"/>
              </a:rPr>
              <a:t>키워드 일치(BM25) 40% +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353B"/>
                </a:solidFill>
                <a:latin typeface="맑은 고딕"/>
              </a:rPr>
              <a:t>뜻이 비슷한 조항(벡터) 60%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353B"/>
                </a:solidFill>
                <a:latin typeface="맑은 고딕"/>
              </a:rPr>
              <a:t>질문형 문장이면 뜻 75%</a:t>
            </a:r>
          </a:p>
        </p:txBody>
      </p:sp>
      <p:sp>
        <p:nvSpPr>
          <p:cNvPr id="26" name="Chevron 25"/>
          <p:cNvSpPr/>
          <p:nvPr/>
        </p:nvSpPr>
        <p:spPr>
          <a:xfrm>
            <a:off x="9435464" y="2880360"/>
            <a:ext cx="237744" cy="457200"/>
          </a:xfrm>
          <a:prstGeom prst="chevron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37192" y="1737360"/>
            <a:ext cx="21488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74352" y="1874519"/>
            <a:ext cx="457200" cy="457200"/>
          </a:xfrm>
          <a:prstGeom prst="ellipse">
            <a:avLst/>
          </a:prstGeom>
          <a:solidFill>
            <a:srgbClr val="B3A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맑은 고딕"/>
              </a:rPr>
              <a:t>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242316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B3A177"/>
                </a:solidFill>
                <a:latin typeface="맑은 고딕"/>
              </a:rPr>
              <a:t>결과 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2880360"/>
            <a:ext cx="1874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353B"/>
                </a:solidFill>
                <a:latin typeface="맑은 고딕"/>
              </a:rPr>
              <a:t>규정명·조항·본문 발췌·담당부서·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B353B"/>
                </a:solidFill>
                <a:latin typeface="맑은 고딕"/>
              </a:rPr>
              <a:t>시행일 · 미리보기 · 원문 이동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754880"/>
            <a:ext cx="10881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9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6460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비유하면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2B353B"/>
                </a:solidFill>
                <a:latin typeface="맑은 고딕"/>
              </a:rPr>
              <a:t>키워드 검색은 '책 뒤 색인에서 단어 찾기', 의미 검색은 '사서가 질문의 뜻을 이해하고 비슷한 내용의 조항을 골라주기'입니다. 둘을 합치면 정확한 단어를 몰라도(예: '자퇴' ↔ 규정은 '퇴학') 찾을 수 있고, 학적 용어 동의어 사전으로 그 간극을 더 좁혔습니다.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AI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AI에게 질문하기 — '근거만 보고 답하는'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645920"/>
            <a:ext cx="2148840" cy="1600200"/>
          </a:xfrm>
          <a:prstGeom prst="roundRect">
            <a:avLst/>
          </a:prstGeom>
          <a:solidFill>
            <a:srgbClr val="43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질문</a:t>
            </a:r>
          </a:p>
          <a:p>
            <a:pPr algn="ctr">
              <a:spcBef>
                <a:spcPts val="600"/>
              </a:spcBef>
            </a:pPr>
            <a:r>
              <a:rPr sz="1150">
                <a:solidFill>
                  <a:srgbClr val="F0F6FA"/>
                </a:solidFill>
                <a:latin typeface="맑은 고딕"/>
              </a:rPr>
              <a:t>휴학 신청은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언제까지 해야 해?</a:t>
            </a:r>
          </a:p>
        </p:txBody>
      </p:sp>
      <p:sp>
        <p:nvSpPr>
          <p:cNvPr id="8" name="Chevron 7"/>
          <p:cNvSpPr/>
          <p:nvPr/>
        </p:nvSpPr>
        <p:spPr>
          <a:xfrm>
            <a:off x="2659760" y="2240280"/>
            <a:ext cx="237744" cy="411480"/>
          </a:xfrm>
          <a:prstGeom prst="chevron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61488" y="1645920"/>
            <a:ext cx="2148840" cy="1600200"/>
          </a:xfrm>
          <a:prstGeom prst="round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① 질의 재작성</a:t>
            </a:r>
          </a:p>
          <a:p>
            <a:pPr algn="ctr">
              <a:spcBef>
                <a:spcPts val="600"/>
              </a:spcBef>
            </a:pPr>
            <a:r>
              <a:rPr sz="1150">
                <a:solidFill>
                  <a:srgbClr val="F0F6FA"/>
                </a:solidFill>
                <a:latin typeface="맑은 고딕"/>
              </a:rPr>
              <a:t>규정 문체 검색어로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'휴학 신청 시기 및 절차'</a:t>
            </a:r>
          </a:p>
        </p:txBody>
      </p:sp>
      <p:sp>
        <p:nvSpPr>
          <p:cNvPr id="10" name="Chevron 9"/>
          <p:cNvSpPr/>
          <p:nvPr/>
        </p:nvSpPr>
        <p:spPr>
          <a:xfrm>
            <a:off x="4918328" y="2240280"/>
            <a:ext cx="237744" cy="411480"/>
          </a:xfrm>
          <a:prstGeom prst="chevron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0056" y="1645920"/>
            <a:ext cx="2148840" cy="1600200"/>
          </a:xfrm>
          <a:prstGeom prst="round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② 검색+재순위화</a:t>
            </a:r>
          </a:p>
          <a:p>
            <a:pPr algn="ctr">
              <a:spcBef>
                <a:spcPts val="600"/>
              </a:spcBef>
            </a:pPr>
            <a:r>
              <a:rPr sz="1150">
                <a:solidFill>
                  <a:srgbClr val="F0F6FA"/>
                </a:solidFill>
                <a:latin typeface="맑은 고딕"/>
              </a:rPr>
              <a:t>상위 20개 후보를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정밀 재비교 → 5개</a:t>
            </a:r>
          </a:p>
        </p:txBody>
      </p:sp>
      <p:sp>
        <p:nvSpPr>
          <p:cNvPr id="12" name="Chevron 11"/>
          <p:cNvSpPr/>
          <p:nvPr/>
        </p:nvSpPr>
        <p:spPr>
          <a:xfrm>
            <a:off x="7176896" y="2240280"/>
            <a:ext cx="237744" cy="411480"/>
          </a:xfrm>
          <a:prstGeom prst="chevron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8624" y="1645920"/>
            <a:ext cx="2148840" cy="1600200"/>
          </a:xfrm>
          <a:prstGeom prst="roundRect">
            <a:avLst/>
          </a:prstGeom>
          <a:solidFill>
            <a:srgbClr val="007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③ 답변 생성</a:t>
            </a:r>
          </a:p>
          <a:p>
            <a:pPr algn="ctr">
              <a:spcBef>
                <a:spcPts val="600"/>
              </a:spcBef>
            </a:pPr>
            <a:r>
              <a:rPr sz="1150">
                <a:solidFill>
                  <a:srgbClr val="F0F6FA"/>
                </a:solidFill>
                <a:latin typeface="맑은 고딕"/>
              </a:rPr>
              <a:t>찾은 5개 조항만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참고자료로 문장 작성</a:t>
            </a:r>
          </a:p>
        </p:txBody>
      </p:sp>
      <p:sp>
        <p:nvSpPr>
          <p:cNvPr id="14" name="Chevron 13"/>
          <p:cNvSpPr/>
          <p:nvPr/>
        </p:nvSpPr>
        <p:spPr>
          <a:xfrm>
            <a:off x="9435464" y="2240280"/>
            <a:ext cx="237744" cy="411480"/>
          </a:xfrm>
          <a:prstGeom prst="chevron">
            <a:avLst/>
          </a:prstGeom>
          <a:solidFill>
            <a:srgbClr val="BCB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37192" y="1645920"/>
            <a:ext cx="2148840" cy="1600200"/>
          </a:xfrm>
          <a:prstGeom prst="roundRect">
            <a:avLst/>
          </a:prstGeom>
          <a:solidFill>
            <a:srgbClr val="B3A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④ 검증</a:t>
            </a:r>
          </a:p>
          <a:p>
            <a:pPr algn="ctr">
              <a:spcBef>
                <a:spcPts val="600"/>
              </a:spcBef>
            </a:pPr>
            <a:r>
              <a:rPr sz="1150">
                <a:solidFill>
                  <a:srgbClr val="F0F6FA"/>
                </a:solidFill>
                <a:latin typeface="맑은 고딕"/>
              </a:rPr>
              <a:t>근거 없는 규정명·숫자</a:t>
            </a:r>
            <a:br/>
            <a:r>
              <a:rPr sz="1150">
                <a:solidFill>
                  <a:srgbClr val="F0F6FA"/>
                </a:solidFill>
                <a:latin typeface="맑은 고딕"/>
              </a:rPr>
              <a:t>자동 경고 / 출처 첨부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3525A"/>
                </a:solidFill>
                <a:latin typeface="맑은 고딕"/>
              </a:rPr>
              <a:t>🛡 환각(지어내기) 방지 안전장치 — 여러 겹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" y="38862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6968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맑은 고딕"/>
                        </a:rPr>
                        <a:t>안전장치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관련성 문턱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찾은 조항의 관련 점수가 기준(0.5) 미만이면 AI를 부르지 않고 즉시 '규정에서 찾을 수 없습니다'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규정명 검증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답변에 근거 목록에 없는 규정명이 등장하면 ⚠️ 자동 경고 문구를 붙임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숫자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답변의 숫자가 참고자료에 없으면 경고 — '2분의 1 경과 전'을 '몇 주 전'으로 환산하는 것도 금지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수치 질문 규칙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금액·한도·기간을 묻는데 참고자료에 그 수치가 없으면 요약하지 말고 '찾을 수 없습니다'로 먼저 답하게 지시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폐지 규정 제외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폐지된 32건은 검색·답변 근거에서 자동 제외 (토글로 포함 가능)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실제 화면 ① — 검색 결과 (공식 VI · 시행일 표시)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pic>
        <p:nvPicPr>
          <p:cNvPr id="7" name="Picture 6" descr="v2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463040"/>
            <a:ext cx="7282688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645920"/>
            <a:ext cx="2651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상단: 공식 시그니처(BS08) 브랜드 바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GNU Blue 헤더 + 흰 원판 엠블럼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카테고리: 대학 / 산학협력단 소그룹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'폐지된 규정도 포함' 토글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카드 우상단: 시행 2021-03-01 · 제정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담당부서: 실무부서(상위) · 전화(클릭)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검색어 형광펜 하이라이트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실제 화면 ② — AI에게 질문하기 · 폐지 규정 표시 · 모바일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pic>
        <p:nvPicPr>
          <p:cNvPr id="7" name="Picture 6" descr="v2_ask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082138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617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43525A"/>
                </a:solidFill>
                <a:latin typeface="맑은 고딕"/>
              </a:rPr>
              <a:t>① AI에게 질문하기 탭 (예시 질문·안내 문구)</a:t>
            </a:r>
          </a:p>
        </p:txBody>
      </p:sp>
      <p:pic>
        <p:nvPicPr>
          <p:cNvPr id="9" name="Picture 8" descr="v2_repealed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983480"/>
            <a:ext cx="5760720" cy="12211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6263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43525A"/>
                </a:solidFill>
                <a:latin typeface="맑은 고딕"/>
              </a:rPr>
              <a:t>③ 모바일(390px) — 소그룹 세로 배치</a:t>
            </a:r>
          </a:p>
        </p:txBody>
      </p:sp>
      <p:pic>
        <p:nvPicPr>
          <p:cNvPr id="11" name="Picture 10" descr="v2_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463040"/>
            <a:ext cx="2197160" cy="4754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2636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B23A3A"/>
                </a:solidFill>
                <a:latin typeface="맑은 고딕"/>
              </a:rPr>
              <a:t>② 폐지 규정 카드 — 빨간 '폐지' 배지·붉은 배경 (토글을 켰을 때만 표시)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기술 스택 — 무료·오픈소스 기반 (유료는 답변용 AI API만)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5120639"/>
                <a:gridCol w="44805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맑은 고딕"/>
                        </a:rPr>
                        <a:t>쉽게 말하면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수집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Python 표준 라이브러리, law.go.kr 연동, HWPX 파싱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사람이 복사·붙이기 하던 걸 자동으로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청킹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정규식 기반 조문 분할 + 장(章) 제목 부착 (자체 개발)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규정을 '조·항' 카드로 잘게 나누기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임베딩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KR-SBERT (서울대 한국어 특화 모델, 무료·오프라인)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문장의 뜻을 숫자로 바꾸는 번역기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벡터DB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ChromaDB (임베디드, 서버 설치 불필요)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그 숫자를 저장해 두는 창고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검색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FastAPI + 자체 BM25 + 하이브리드 결합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키워드·의미 검색을 합쳐 순위 매기기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재순위화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BAAI/bge-reranker-v2-m3 (cross-encoder)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상위 20개를 정밀 재채점 (AI 질문 탭만)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답변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Claude Haiku 4.5 (학교 FactChat API) / 대체: Qwen2.5-1.5B 로컬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찾은 조항을 읽고 답변 문장 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웹 화면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순수 HTML/CSS/JS, 공식 VI 색상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빌드 도구 없이 서버가 바로 서빙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운영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Linux + systemd + nginx(/regulation/) · refresh_all.py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353B"/>
                          </a:solidFill>
                          <a:latin typeface="맑은 고딕"/>
                        </a:rPr>
                        <a:t>항상 켜져 있고, 갱신은 한 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RESULT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검색 시스템 (T1~T5) — 수집·청킹·검색·화면·운영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59"/>
                <a:gridCol w="9144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  <a:latin typeface="맑은 고딕"/>
                        </a:rPr>
                        <a:t>핵심 결과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T1 수집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426건 (대학 학칙 1·규정 228·지침 134 / 산학협력단 63) · 실패 0건 · 조항별 실제 담당부서·연락처 추출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T2 청킹·임베딩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9,258개 조·항 청크(소속 장 제목 포함) → KR-SBERT 임베딩 → ChromaDB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T3 검색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하이브리드(의미 60%+키워드 40%) · 출처/카테고리 필터 · 미리보기 API · 응답 0.05초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T4 웹 화면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검색창·필터·결과 카드·하이라이트·미리보기 모달·원문 이동·모바일 반응형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T5 품질·운영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자주 쓰는 검색어 15개 자동 점검 15/15(100%) · 원클릭 갱신(refresh_all.py) · 운영 매뉴얼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RESULT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AI에게 질문하기 (T6~T10) — 답변 생성과 환각 방지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59"/>
                <a:gridCol w="91440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  <a:latin typeface="맑은 고딕"/>
                        </a:rPr>
                        <a:t>핵심 결과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T6 RAG 엔진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검색 → 참고자료 조립 → 답변 생성 파이프라인. 참고자료 밖 내용은 '찾을 수 없습니다'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T7 API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/api/ask 추가 (기존 검색 API 무변경) · 60초 시간 초과 시 검색 결과만 안전 반환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T8 화면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검색 ↔ AI 질문하기 탭, 채팅형 답변 + 근거 조항 카드, 'AI 생성 참고용' 안내 문구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T9 품질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자동 평가 7문항: 답해야 할 4 · 거절해야 할 3 → 7/7(100%). 흔한 단어 하나로 답을 지어내던 문제 발견·수정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T10 운영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353B"/>
                          </a:solidFill>
                          <a:latin typeface="맑은 고딕"/>
                        </a:rPr>
                        <a:t>질문·답변 로그(개인정보 없음) · 비용 집계 스크립트 · AI 장애 시 검색 전용 모드 자동 전환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RESULT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정확도 개선 여정 (T11~T15) — 해보고, 되돌리고, 다른 길로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840480"/>
                <a:gridCol w="6217920"/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시도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결과 / 배운 점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T11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임베딩 모델을 BGE-M3로 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⛔ 롤백 — 무관한 질문(주식 시세)도 유사도 0.93으로 높게 나와 '거절' 안전장치 무력화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T12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재순위화(cross-encoder) + 조문에 장(章) 제목 부착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✅ '휴학하려면 어떻게 해?' 오답 → 학사관리 규정 제31조 정답. 일반 검색 속도는 그대로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T13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임베딩 모델을 multilingual-e5-large로 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⛔ 롤백 — 관련/무관 점수 차 0.02로 너무 좁고, 다른 주제 조항으로 오답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T14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재순위화가 점수 낮은 후보를 1위로 올리는 결함 수정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✅ 하이브리드 점수 게이트 도입 → T9 6/7 → 7/7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T15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질문형 질의 의미 비중↑ + LLM 질의 재작성 + 운영 AI를 Claude로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✅ 답변 수십 초 → 수 초, 수치 없으면 '찾을 수 없다'고 먼저 답하도록 보강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6737A"/>
                </a:solidFill>
                <a:latin typeface="맑은 고딕"/>
              </a:rPr>
              <a:t>교훈: '더 좋은 AI 모델'로 바꾸는 것보다, 검증된 안전장치를 유지한 채 검색 파이프라인을 다듬는 쪽이 이 도메인에선 더 안전하고 효과적이었습니다.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RESULT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운영 배포 (T16) — 리눅스 서버, 업무보고 페이지와 포트 공유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554480"/>
            <a:ext cx="10881360" cy="2011680"/>
          </a:xfrm>
          <a:prstGeom prst="roundRect">
            <a:avLst/>
          </a:prstGeom>
          <a:solidFill>
            <a:srgbClr val="43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9FDDF5"/>
                </a:solidFill>
                <a:latin typeface="맑은 고딕"/>
              </a:rPr>
              <a:t>요청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FFFFFF"/>
                </a:solidFill>
                <a:latin typeface="맑은 고딕"/>
              </a:rPr>
              <a:t>https://gapps.gnu.ac.kr/            → nginx(80/443) → 127.0.0.1:8080  주간업무보고 (기존 그대로)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FFFFFF"/>
                </a:solidFill>
                <a:latin typeface="맑은 고딕"/>
              </a:rPr>
              <a:t>https://gapps.gnu.ac.kr/regulation/ → nginx(80/443) → 127.0.0.1:8000  규정 통합 검색 (신규)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FFFFFF"/>
                </a:solidFill>
                <a:latin typeface="맑은 고딕"/>
              </a:rPr>
              <a:t>nginx 설정에 location 블록 하나만 추가 · reload(무중단) · 백업으로 1분 내 롤백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2B353B"/>
                </a:solidFill>
                <a:latin typeface="맑은 고딕"/>
              </a:rPr>
              <a:t>•  서버: Linux(CentOS 계열) + Python 가상환경 + systemd 서비스(재부팅 시 자동 시작)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2B353B"/>
                </a:solidFill>
                <a:latin typeface="맑은 고딕"/>
              </a:rPr>
              <a:t>•  겪은 문제와 해결: 오래된 sqlite3 → pysqlite3 교체 / Windows 경로 구분자(\) → '/' 정규화 / SELinux·firewalld / systemd는 .bashrc를 읽지 않으므로 Environment=로 API 키 지정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2B353B"/>
                </a:solidFill>
                <a:latin typeface="맑은 고딕"/>
              </a:rPr>
              <a:t>•  웹 화면은 자기 경로를 보고 API 주소를 자동 계산 → :8000 직접 접속과 /regulation/ 경로 모두 같은 코드로 동작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2B353B"/>
                </a:solidFill>
                <a:latin typeface="맑은 고딕"/>
              </a:rPr>
              <a:t>•  현재 학내망·정보전산처 공개 단계. 정착 후 :8000 직접 접근은 닫을 예정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RESULT 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화면·데이터 다듬기 (T17~T20)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486400"/>
                <a:gridCol w="4572000"/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무엇을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왜 / 효과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T17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카테고리를 대학(학칙/규정/지침) · 산학협력단(제1~7편) 소그룹으로, 담당부서 표기 통일, 데이터 기준일·공식 푸터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두 체계가 한 줄에 섞여 헷갈리던 문제 해소, 전화 클릭 통화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T18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학적 질문 23문항 평가셋 · 부설고/중학교 학칙 감점 · 학적 동의어(자퇴→퇴학 등)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가장 많이 묻는 영역 정기 점검. 부설학교 학칙 혼입 2→0건, 23/23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T19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경상국립대 공식 VI: 전용색상 BS13, 시그니처 BS08, 엠블럼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브랜드 일관성. 비공식 색 제거. 사용 승인은 추후 총무과 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T20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시행일·개정일·규정번호 수집(424/426) · 폐지 규정 32건 기본 제외 + 토글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'지금 유효한 규정인가'를 바로 확인. 폐지 규정을 근거로 답하던 위험 제거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발견 — 폐지된 규정 32건이 '현행'처럼 검색되고 있었습니다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5544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2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23A3A"/>
                </a:solidFill>
                <a:latin typeface="맑은 고딕"/>
              </a:rPr>
              <a:t>무슨 문제였나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2B353B"/>
                </a:solidFill>
                <a:latin typeface="맑은 고딕"/>
              </a:rPr>
              <a:t>•  426건 중 32건(7.5%)이 이미 폐지된 규정 — 장학위원회 규정, 발전기금재단 연구비 지원 지침, 복수학사학위제 운영 지침 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2B353B"/>
                </a:solidFill>
                <a:latin typeface="맑은 고딕"/>
              </a:rPr>
              <a:t>•  원문 사이트에는 남아 있어 수집됐고, 카드에 표시도 없어 사용자가 구분할 수 없었음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2B353B"/>
                </a:solidFill>
                <a:latin typeface="맑은 고딕"/>
              </a:rPr>
              <a:t>•  AI 답변이 폐지 규정을 근거로 인용할 위험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E8B57"/>
                </a:solidFill>
                <a:latin typeface="맑은 고딕"/>
              </a:rPr>
              <a:t>어떻게 해결했나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2B353B"/>
                </a:solidFill>
                <a:latin typeface="맑은 고딕"/>
              </a:rPr>
              <a:t>•  법령정보센터 원문 헤더 '[시행 2026.5.29.] [학칙 제529호, 2026.5.29., 일부개정]'를 읽어 시행일·개정종류·폐지 여부를 자동 판별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2B353B"/>
                </a:solidFill>
                <a:latin typeface="맑은 고딕"/>
              </a:rPr>
              <a:t>•  폐지 규정은 검색·AI 근거에서 기본 제외, 필요 시 '폐지된 규정도 포함' 토글 (빨간 배지로 구분)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2B353B"/>
                </a:solidFill>
                <a:latin typeface="맑은 고딕"/>
              </a:rPr>
              <a:t>•  재수집 없이 헤더만 다시 읽어 3~4분에 완료, 이후 갱신(refresh_all.py) 때 자동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품질 지표 종합 (2026-09 기준, 변경마다 자동 재검증)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5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221"/>
                <a:gridCol w="4352544"/>
                <a:gridCol w="2785628"/>
                <a:gridCol w="1653966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평가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무엇을 확인하나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T5 검색 품질 (15문항)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자주 쓰는 검색어·질문이 상위 5건에 관련 규정을 내는지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15/15 (100%) · 평균 0.04초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100% · 3초 이내 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T9 RAG 품질 (7문항)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답해야 할 질문엔 근거로 답하고, 무관·수치 없는 질문은 거절하는지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7/7 (100%) · 숫자 환각 0~1건(경고 처리)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100% ✅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학적 평가 (23문항)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휴학·복학·전과·수강·성적·졸업 질문의 정답 조항이 상위 5건에 있는지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23/23 (100%) · 부설학교 학칙 1위 0건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100% · 0건 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화면 검증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데스크톱·모바일 렌더링, 콘솔 오류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Playwright 자동 캡처, 오류 0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오류 0 ✅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규정 수 · 청크 수 · 시행일 확보 · 폐지 식별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426건 · 9,258개 · 424/426 · 32건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353B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303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6737A"/>
                </a:solidFill>
                <a:latin typeface="맑은 고딕"/>
              </a:rPr>
              <a:t>남은 과제(기록됨): 학부 질문에 대학원 규정이 1위로 오는 3건 · 재순위화 단계 약 10초(AI 질문 탭의 병목) · VI 사용 승인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담당자가 할 일 — 운영 매뉴얼(MANUAL.md)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270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3525A"/>
                </a:solidFill>
                <a:latin typeface="맑은 고딕"/>
              </a:rPr>
              <a:t>규정이 바뀌었을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27048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53B"/>
                </a:solidFill>
                <a:latin typeface="맑은 고딕"/>
              </a:rPr>
              <a:t>python scripts/refresh_all.py  (수집 → 시행일 보강 → 청킹 → 벡터DB → 점검, 자동) · 특정 규정만: --skip-collect --name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957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3525A"/>
                </a:solidFill>
                <a:latin typeface="맑은 고딕"/>
              </a:rPr>
              <a:t>가끔 품질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395728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53B"/>
                </a:solidFill>
                <a:latin typeface="맑은 고딕"/>
              </a:rPr>
              <a:t>evaluate_search.py(15문항) · evaluate_rag.py(7문항) · evaluate_academic.py(학적 23문항) → 100%인지 확인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644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3525A"/>
                </a:solidFill>
                <a:latin typeface="맑은 고딕"/>
              </a:rPr>
              <a:t>이상 답변 신고 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64408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53B"/>
                </a:solidFill>
                <a:latin typeface="맑은 고딕"/>
              </a:rPr>
              <a:t>화면의 근거 조항 확인 → data/rag_logs/ 로그 확인 → 개발 담당자에게 질문·시간 전달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33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3525A"/>
                </a:solidFill>
                <a:latin typeface="맑은 고딕"/>
              </a:rPr>
              <a:t>서버 반영(리눅스)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33088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53B"/>
                </a:solidFill>
                <a:latin typeface="맑은 고딕"/>
              </a:rPr>
              <a:t>git pull → sudo systemctl restart gnu-regulation-search  (nginx는 건드리지 않음)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017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3525A"/>
                </a:solidFill>
                <a:latin typeface="맑은 고딕"/>
              </a:rPr>
              <a:t>AI 종류·비용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001768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2B353B"/>
                </a:solidFill>
                <a:latin typeface="맑은 고딕"/>
              </a:rPr>
              <a:t>FactChat API 키는 서버 환경변수로만 · rag_cost_report.py로 호출 수·비용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알아두실 점 — 보안 · 비용 ·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5544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474720" cy="109728"/>
          </a:xfrm>
          <a:prstGeom prst="rect">
            <a:avLst/>
          </a:prstGeom>
          <a:solidFill>
            <a:srgbClr val="43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43525A"/>
                </a:solidFill>
                <a:latin typeface="맑은 고딕"/>
              </a:rPr>
              <a:t>🔐 보안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API 키는 서버 환경변수(systemd Environment=)로만 보관, 문서·채팅 공유 금지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질문·답변 로그에 개인정보 저장 안 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외부 API 사용 시 질문 내용이 외부(AI 제공사)로 전송됨 — 민감 내용 주의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474720" cy="109728"/>
          </a:xfrm>
          <a:prstGeom prst="rect">
            <a:avLst/>
          </a:prstGeom>
          <a:solidFill>
            <a:srgbClr val="007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7FB3"/>
                </a:solidFill>
                <a:latin typeface="맑은 고딕"/>
              </a:rPr>
              <a:t>💰 비용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검색·임베딩·재순위화: 전부 무료 오픈소스, 서버 내부 처리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답변 AI(Claude Haiku 4.5): 학교 FactChat API 사용량 과금 — rag_cost_report.py로 집계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API 없으면 무료 로컬 모델로 자동 대체(느림)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3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3474720" cy="109728"/>
          </a:xfrm>
          <a:prstGeom prst="rect">
            <a:avLst/>
          </a:prstGeom>
          <a:solidFill>
            <a:srgbClr val="B3A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B3A177"/>
                </a:solidFill>
                <a:latin typeface="맑은 고딕"/>
              </a:rPr>
              <a:t>⚠️ 한계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AI 답변은 참고용, 법적 효력은 원본 규정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규정 원문이 바뀌면 refresh_all.py 실행 전까지는 이전 내용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>
                <a:solidFill>
                  <a:srgbClr val="2B353B"/>
                </a:solidFill>
                <a:latin typeface="맑은 고딕"/>
              </a:rPr>
              <a:t>•  학부 질문에 대학원 규정이 먼저 나오는 경우 일부 · AI 질문 탭 응답 10초 안팎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기대효과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43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행정 서비스 개선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맑은 고딕"/>
              </a:rPr>
              <a:t>•  대학·산학협력단 규정을 한 곳에서, 조·항 단위로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맑은 고딕"/>
              </a:rPr>
              <a:t>•  규정 + 담당부서 + 시행일 + 유효 여부를 원스톱 확인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맑은 고딕"/>
              </a:rPr>
              <a:t>•  규정 개정 시 명령 한 줄로 갱신, 폐지 규정 자동 제외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맑은 고딕"/>
              </a:rPr>
              <a:t>•  반복 문의(휴학·연구비 등) 1차 응대를 AI가 근거와 함께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023360"/>
          </a:xfrm>
          <a:prstGeom prst="round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학내 구성원 편의 향상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맑은 고딕"/>
              </a:rPr>
              <a:t>•  정확한 규정 용어를 몰라도 말로 물어서 찾기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맑은 고딕"/>
              </a:rPr>
              <a:t>•  검색 0.05초, AI 답변 수 초 — 근거 조항 즉시 확인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맑은 고딕"/>
              </a:rPr>
              <a:t>•  모바일에서도 동일하게 이용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맑은 고딕"/>
              </a:rPr>
              <a:t>•  경상국립대 공식 VI로 일관된 브랜드 경험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EDB"/>
                </a:solidFill>
                <a:latin typeface="맑은 고딕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43525A"/>
                </a:solidFill>
                <a:latin typeface="맑은 고딕"/>
              </a:rPr>
              <a:t>향후 계획 (제안)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508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nu_signature_k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84048"/>
            <a:ext cx="2532185" cy="32918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5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949439"/>
                <a:gridCol w="2468880"/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>
                    <a:solidFill>
                      <a:srgbClr val="43525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53B"/>
                          </a:solidFill>
                          <a:latin typeface="맑은 고딕"/>
                        </a:rPr>
                        <a:t>공개 확대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53B"/>
                          </a:solidFill>
                          <a:latin typeface="맑은 고딕"/>
                        </a:rPr>
                        <a:t>정보전산처 → 총무과·산학연구과 검수 → 전체 학내 구성원 공개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53B"/>
                          </a:solidFill>
                          <a:latin typeface="맑은 고딕"/>
                        </a:rPr>
                        <a:t>VI 사용 승인 병행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53B"/>
                          </a:solidFill>
                          <a:latin typeface="맑은 고딕"/>
                        </a:rPr>
                        <a:t>정확도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53B"/>
                          </a:solidFill>
                          <a:latin typeface="맑은 고딕"/>
                        </a:rPr>
                        <a:t>학부/대학원 규정 우선순위 조정 · 재순위화 후보 20→10개로 응답 단축 · 사용자 👍👎 피드백 수집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53B"/>
                          </a:solidFill>
                          <a:latin typeface="맑은 고딕"/>
                        </a:rPr>
                        <a:t>평가셋 확대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53B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53B"/>
                          </a:solidFill>
                          <a:latin typeface="맑은 고딕"/>
                        </a:rPr>
                        <a:t>규정 간 위임 관계(학칙 ↔ 하위 지침) 표시 · 개정 이력 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53B"/>
                          </a:solidFill>
                          <a:latin typeface="맑은 고딕"/>
                        </a:rPr>
                        <a:t>law.go.kr 연혁 활용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53B"/>
                          </a:solidFill>
                          <a:latin typeface="맑은 고딕"/>
                        </a:rPr>
                        <a:t>운영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53B"/>
                          </a:solidFill>
                          <a:latin typeface="맑은 고딕"/>
                        </a:rPr>
                        <a:t>정기 갱신 일정(월 1회) · 로그 기반 자주 묻는 질문 칩 · :8000 직접 접근 차단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53B"/>
                          </a:solidFill>
                          <a:latin typeface="맑은 고딕"/>
                        </a:rPr>
                        <a:t>MANUAL 반영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28655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6737A"/>
                </a:solidFill>
                <a:latin typeface="맑은 고딕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FB3"/>
              </a:gs>
              <a:gs pos="100000">
                <a:srgbClr val="009ED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nu_signature_kr_e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422030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맑은 고딕"/>
              </a:rPr>
              <a:t>AI 기반 대학·산학협력단 규정집 통합 검색 시스템  ·  https://gapps.gnu.ac.kr/regulation/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E6F5FC"/>
                </a:solidFill>
                <a:latin typeface="맑은 고딕"/>
              </a:rPr>
              <a:t>문의 : 정보전산처(시스템 운영) · 총무과 055-772-0334(대학 규정) · 산학연구과 055-772-0211(산학협력단 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D0ECF8"/>
                </a:solidFill>
                <a:latin typeface="맑은 고딕"/>
              </a:rPr>
              <a:t>참고 문서 : README.md(개발 현황·근거) · MANUAL.md(운영 매뉴얼) · PRD.md · TASKS.md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