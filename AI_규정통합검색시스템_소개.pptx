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1F46"/>
              </a:gs>
              <a:gs pos="100000">
                <a:srgbClr val="009ED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007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12801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091F46"/>
                </a:solidFill>
                <a:latin typeface="맑은 고딕"/>
              </a:rPr>
              <a:t>GNU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AI 기반 대학·산학협력단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규정집 통합 검색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</a:rPr>
              <a:t>벡터DB 청킹 기반 AI 검색엔진으로 규정 검색의 정확도와 접근성을 향상시키다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DEEFB"/>
                </a:solidFill>
                <a:latin typeface="맑은 고딕"/>
              </a:rPr>
              <a:t>경상국립대학교 정보전산처  ·  총무과 / 산학협력단 산학연구과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추진배경 및 필요성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800">
                <a:solidFill>
                  <a:srgbClr val="17233B"/>
                </a:solidFill>
                <a:latin typeface="맑은 고딕"/>
              </a:rPr>
              <a:t>•  현재 규정집 조회 시스템은 '규정명' 단순 검색만 제공 → 조·항 단위 세부 내용 검색이 어려움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800">
                <a:solidFill>
                  <a:srgbClr val="17233B"/>
                </a:solidFill>
                <a:latin typeface="맑은 고딕"/>
              </a:rPr>
              <a:t>•  대학 규정과 산학협력단 규정이 서로 다른 웹사이트로 이원화 운영 → 검색·조회의 일관성 결여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800">
                <a:solidFill>
                  <a:srgbClr val="17233B"/>
                </a:solidFill>
                <a:latin typeface="맑은 고딕"/>
              </a:rPr>
              <a:t>•  키워드 중심의 통합 검색 및 AI 기능이 반영된 규정집 조회 기능 개선 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49039"/>
            <a:ext cx="108813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관련 부서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(대학) 총무과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(산학협력단) 산학연구과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벤치마킹 대학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4340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규정 카테고리 구분 : 충남대학교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조회 형식 등 : 연세대학교(rules.yonsei.ac.kr)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프로젝트 목적 &amp; 대상 사용자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91F46"/>
                </a:solidFill>
                <a:latin typeface="맑은 고딕"/>
              </a:rPr>
              <a:t>🎯 프로젝트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대학 + 산학협력단 규정 통합 검색 환경 구축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규정명뿐 아니라 조·항 단위 본문 내용까지 검색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벡터DB 기반 청킹으로 시맨틱 검색 정확도 향상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규정 + 담당부서(연락처) 원스톱 확인 제공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91F46"/>
                </a:solidFill>
                <a:latin typeface="맑은 고딕"/>
              </a:rPr>
              <a:t>👥 대상 사용자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2024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1차 : 학내 구성원 (학생 · 교원 · 직원)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2차 : 규정 관리 담당자 (총무과, 산학연구과)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17233B"/>
                </a:solidFill>
                <a:latin typeface="맑은 고딕"/>
              </a:rPr>
              <a:t>•  운영자 : 시스템 관리자 (데이터 등록·갱신)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주요 요구사항 (검색 결과 표시 예시: PRD 4.1)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9264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요구 항목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통합 검색 : 대학 + 산학협력단 규정을 하나의 검색창에서 검색 (제목+본문)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FR-02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하이브리드 검색 : 키워드 검색 + AI 의미(시맨틱) 검색 결합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결과 표시 : 규정 구분·연관 규정명(전체)·조항(제0조 제0항)·담당부서/연락처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FR-04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'관련 사이트로 이동' 버튼 : 원본 규정 페이지로 새 창 이동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'미리보기' 기능 : 조항/규정 전문을 팝업으로 확인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FR-06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카테고리(학칙/규정/지침)·출처(대학/산학협력단) 필터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NFR-01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검색 응답 속도 3초 이내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09160"/>
            <a:ext cx="10881360" cy="1417320"/>
          </a:xfrm>
          <a:prstGeom prst="roundRect">
            <a:avLst/>
          </a:prstGeom>
          <a:solidFill>
            <a:srgbClr val="09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9EDB"/>
                </a:solidFill>
                <a:latin typeface="맑은 고딕"/>
              </a:rPr>
              <a:t>예) '연구비' 검색 결과 표시 예시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교무행정, 규정명, '제0조 제0항' 본문 내용 / 담당부서 : 총무과(T.0331)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학생행정, 규정명, '제0조 제0항' 본문 내용 / 담당부서 : 산학협력지원실(T.0000)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일반행정, 규정명, '제0조 제0항' 본문 내용 / 담당부서 : 산학협력단 산학연구과(T.0000)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MVP 범위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9E5E"/>
                </a:solidFill>
                <a:latin typeface="맑은 고딕"/>
              </a:rPr>
              <a:t>✅ In Scope (포함)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규정 원문 수집 (대학+산학협력단)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조·항 단위 청킹 + 벡터DB 구축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하이브리드 통합 검색 API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검색 결과 상세 카드(구분/규정명/조항/담당부서)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미리보기, 관련 사이트 이동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카테고리·출처 필터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6B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C6B82"/>
                </a:solidFill>
                <a:latin typeface="맑은 고딕"/>
              </a:rPr>
              <a:t>⏭ Out of Scope (향후 확장)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챗봇형 Q&amp;A (RAG 답변 생성)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규정 개정 이력 관리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규정 관리자용 어드민(admin) 시스템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17233B"/>
                </a:solidFill>
                <a:latin typeface="맑은 고딕"/>
              </a:rPr>
              <a:t>•  다국어 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시스템 아키텍처 (T1 → T5 파이프라인)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084831" cy="2377440"/>
          </a:xfrm>
          <a:prstGeom prst="roundRect">
            <a:avLst/>
          </a:prstGeom>
          <a:solidFill>
            <a:srgbClr val="09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T1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  <a:latin typeface="맑은 고딕"/>
              </a:rPr>
              <a:t>데이터 수집</a:t>
            </a:r>
          </a:p>
          <a:p>
            <a:pPr algn="ctr">
              <a:spcBef>
                <a:spcPts val="1000"/>
              </a:spcBef>
            </a:pPr>
            <a:r>
              <a:rPr sz="1100">
                <a:solidFill>
                  <a:srgbClr val="E9F3FB"/>
                </a:solidFill>
                <a:latin typeface="맑은 고딕"/>
              </a:rPr>
              <a:t>대학·산학협력단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규정 원문 수집</a:t>
            </a:r>
          </a:p>
        </p:txBody>
      </p:sp>
      <p:sp>
        <p:nvSpPr>
          <p:cNvPr id="7" name="Chevron 6"/>
          <p:cNvSpPr/>
          <p:nvPr/>
        </p:nvSpPr>
        <p:spPr>
          <a:xfrm>
            <a:off x="2602751" y="3063240"/>
            <a:ext cx="292608" cy="457200"/>
          </a:xfrm>
          <a:prstGeom prst="chevron">
            <a:avLst/>
          </a:prstGeom>
          <a:solidFill>
            <a:srgbClr val="5C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3" y="2103120"/>
            <a:ext cx="2084831" cy="2377440"/>
          </a:xfrm>
          <a:prstGeom prst="roundRect">
            <a:avLst/>
          </a:prstGeom>
          <a:solidFill>
            <a:srgbClr val="007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T2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  <a:latin typeface="맑은 고딕"/>
              </a:rPr>
              <a:t>청킹·임베딩</a:t>
            </a:r>
          </a:p>
          <a:p>
            <a:pPr algn="ctr">
              <a:spcBef>
                <a:spcPts val="1000"/>
              </a:spcBef>
            </a:pPr>
            <a:r>
              <a:rPr sz="1100">
                <a:solidFill>
                  <a:srgbClr val="E9F3FB"/>
                </a:solidFill>
                <a:latin typeface="맑은 고딕"/>
              </a:rPr>
              <a:t>조·항 단위 분할 +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KR-SBERT 임베딩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→ ChromaDB</a:t>
            </a:r>
          </a:p>
        </p:txBody>
      </p:sp>
      <p:sp>
        <p:nvSpPr>
          <p:cNvPr id="9" name="Chevron 8"/>
          <p:cNvSpPr/>
          <p:nvPr/>
        </p:nvSpPr>
        <p:spPr>
          <a:xfrm>
            <a:off x="4852174" y="3063240"/>
            <a:ext cx="292608" cy="457200"/>
          </a:xfrm>
          <a:prstGeom prst="chevron">
            <a:avLst/>
          </a:prstGeom>
          <a:solidFill>
            <a:srgbClr val="5C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01766" y="2103120"/>
            <a:ext cx="2084831" cy="2377440"/>
          </a:xfrm>
          <a:prstGeom prst="round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T3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  <a:latin typeface="맑은 고딕"/>
              </a:rPr>
              <a:t>검색 API</a:t>
            </a:r>
          </a:p>
          <a:p>
            <a:pPr algn="ctr">
              <a:spcBef>
                <a:spcPts val="1000"/>
              </a:spcBef>
            </a:pPr>
            <a:r>
              <a:rPr sz="1100">
                <a:solidFill>
                  <a:srgbClr val="E9F3FB"/>
                </a:solidFill>
                <a:latin typeface="맑은 고딕"/>
              </a:rPr>
              <a:t>FastAPI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하이브리드 검색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(벡터+BM25)</a:t>
            </a:r>
          </a:p>
        </p:txBody>
      </p:sp>
      <p:sp>
        <p:nvSpPr>
          <p:cNvPr id="11" name="Chevron 10"/>
          <p:cNvSpPr/>
          <p:nvPr/>
        </p:nvSpPr>
        <p:spPr>
          <a:xfrm>
            <a:off x="7101597" y="3063240"/>
            <a:ext cx="292608" cy="457200"/>
          </a:xfrm>
          <a:prstGeom prst="chevron">
            <a:avLst/>
          </a:prstGeom>
          <a:solidFill>
            <a:srgbClr val="5C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51189" y="2103120"/>
            <a:ext cx="2084831" cy="2377440"/>
          </a:xfrm>
          <a:prstGeom prst="roundRect">
            <a:avLst/>
          </a:prstGeom>
          <a:solidFill>
            <a:srgbClr val="224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T4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  <a:latin typeface="맑은 고딕"/>
              </a:rPr>
              <a:t>웹 화면</a:t>
            </a:r>
          </a:p>
          <a:p>
            <a:pPr algn="ctr">
              <a:spcBef>
                <a:spcPts val="1000"/>
              </a:spcBef>
            </a:pPr>
            <a:r>
              <a:rPr sz="1100">
                <a:solidFill>
                  <a:srgbClr val="E9F3FB"/>
                </a:solidFill>
                <a:latin typeface="맑은 고딕"/>
              </a:rPr>
              <a:t>검색·필터·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미리보기 UI</a:t>
            </a:r>
          </a:p>
        </p:txBody>
      </p:sp>
      <p:sp>
        <p:nvSpPr>
          <p:cNvPr id="13" name="Chevron 12"/>
          <p:cNvSpPr/>
          <p:nvPr/>
        </p:nvSpPr>
        <p:spPr>
          <a:xfrm>
            <a:off x="9351020" y="3063240"/>
            <a:ext cx="292608" cy="457200"/>
          </a:xfrm>
          <a:prstGeom prst="chevron">
            <a:avLst/>
          </a:prstGeom>
          <a:solidFill>
            <a:srgbClr val="5C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00612" y="2103120"/>
            <a:ext cx="2084831" cy="2377440"/>
          </a:xfrm>
          <a:prstGeom prst="roundRect">
            <a:avLst/>
          </a:prstGeom>
          <a:solidFill>
            <a:srgbClr val="00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T5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  <a:latin typeface="맑은 고딕"/>
              </a:rPr>
              <a:t>품질·운영</a:t>
            </a:r>
          </a:p>
          <a:p>
            <a:pPr algn="ctr">
              <a:spcBef>
                <a:spcPts val="1000"/>
              </a:spcBef>
            </a:pPr>
            <a:r>
              <a:rPr sz="1100">
                <a:solidFill>
                  <a:srgbClr val="E9F3FB"/>
                </a:solidFill>
                <a:latin typeface="맑은 고딕"/>
              </a:rPr>
              <a:t>자동 평가 +</a:t>
            </a:r>
            <a:br/>
            <a:r>
              <a:rPr sz="1100">
                <a:solidFill>
                  <a:srgbClr val="E9F3FB"/>
                </a:solidFill>
                <a:latin typeface="맑은 고딕"/>
              </a:rPr>
              <a:t>원클릭 갱신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C6B82"/>
                </a:solidFill>
                <a:latin typeface="맑은 고딕"/>
              </a:rPr>
              <a:t>대학 규정 사이트 + 산학협력단 게시판 → 텍스트 정리 → 조·항 청킹 → 한국어 AI 임베딩 → 벡터DB 저장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C6B82"/>
                </a:solidFill>
                <a:latin typeface="맑은 고딕"/>
              </a:rPr>
              <a:t>→ 사용자가 검색어 입력 → 하이브리드 검색 서버가 관련 조항 반환 → 웹 화면에 결과·미리보기 표시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기술 스택 ① — 데이터 수집 · 청킹 · 임베딩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291840"/>
                <a:gridCol w="6400800"/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기술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선택 이유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Python 3.13 (Windows)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AI/데이터 생태계 풍부, 전 단계를 한 언어로 통일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T1 수집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표준 라이브러리 (urllib·re·zipfile)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외부 설치 없이 즉시 실행 가능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T1 수집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law.go.kr 연동 / HWPX 직접 파싱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유료 변환 도구 없이 깨끗한 조문 텍스트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T2 청킹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정규식 기반 조문 청킹(자체 개발)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제0조·①②③ 패턴이 일정해 정확히 분할 가능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T2 임베딩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KR-SBERT (서울대 한국어 특화 모델)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한국어 의미 유사도(STS)에 특화, 무료·오프라인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T2 벡터DB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ChromaDB (임베디드 방식)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서버 설치 없이 폴더에 저장, 메타데이터 필터 지원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기술 스택 ② — 검색 API · 웹 화면 · 운영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5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599"/>
                <a:gridCol w="58521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기술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선택 이유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T3 검색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경량 웹 프레임워크, 자동 API 문서(Swagger) 제공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T3 검색 방식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하이브리드 검색 (BM25 자체구현 + 벡터 유사도)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키워드 검색 + 의미 검색 결합으로 정확도 향상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T4 웹 화면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순수 HTML / CSS / JS (반응형)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빌드 도구 없이 FastAPI가 바로 서빙, 유지보수 최소화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T5 품질검증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자체 평가 스크립트 (evaluate_search.py)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PRD 성공 지표를 자동 회귀 테스트로 측정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T5 운영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원클릭 갱신 스크립트 (refresh_all.py)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규정 개정 시 수집~벡터DB까지 한 번에 재생성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실제 화면 — 통합 검색 결과 (경상국립대 GNU 브랜드 컬러 적용)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ign_result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417320"/>
            <a:ext cx="4228658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C6B82"/>
                </a:solidFill>
                <a:latin typeface="맑은 고딕"/>
              </a:rPr>
              <a:t>GNU 시그니처 블루 헤더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5C6B82"/>
                </a:solidFill>
                <a:latin typeface="맑은 고딕"/>
              </a:rPr>
              <a:t>배지(대학=네이비 / 산학협력단=그린)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5C6B82"/>
                </a:solidFill>
                <a:latin typeface="맑은 고딕"/>
              </a:rPr>
              <a:t>검색어 하이라이트(형광펜)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실제 화면 — 미리보기 팝업 &amp; 모바일 반응형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ig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669280" cy="4429125"/>
          </a:xfrm>
          <a:prstGeom prst="rect">
            <a:avLst/>
          </a:prstGeom>
        </p:spPr>
      </p:pic>
      <p:pic>
        <p:nvPicPr>
          <p:cNvPr id="7" name="Picture 6" descr="design_mobi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463040"/>
            <a:ext cx="1248156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5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91F46"/>
                </a:solidFill>
                <a:latin typeface="맑은 고딕"/>
              </a:rPr>
              <a:t>① 미리보기 모달 (조항 / 규정 전문 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035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91F46"/>
                </a:solidFill>
                <a:latin typeface="맑은 고딕"/>
              </a:rPr>
              <a:t>② 모바일(375px) 반응형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구현 결과 ① — 데이터 수집 &amp; 청킹/벡터DB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41832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맑은 고딕"/>
                        </a:rPr>
                        <a:t>핵심 결과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T1 수집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총 426건 수집 (대학 학칙 1 · 규정 228 · 지침 134, 산학협력단 63) · 실패 0건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T2 청킹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8,831개 조·항 단위 청크 생성 (규정 426건 전체 성공, 청킹 실패 0건)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T2 임베딩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KR-SBERT로 전량 임베딩 → ChromaDB 적재 완료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테스트 검색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"연구비" 검색 시 관련 조항 정상 반환 / 자연어 질의도 의미 기반으로 매칭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구현 결과 ② — 검색 API &amp; 웹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41832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맑은 고딕"/>
                        </a:rPr>
                        <a:t>핵심 결과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T3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하이브리드 검색(의미 60%+키워드 40%) · 필터 · 미리보기 API 구현, 응답 0.05~0.12초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T3 검증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"연구비" 검색 결과가 PRD 예시 형식(구분/규정명/조항/담당부서)과 일치 확인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T4 화면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검색창·필터·결과카드·하이라이트·미리보기모달·사이트이동·반응형 전부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T4 검증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7233B"/>
                          </a:solidFill>
                          <a:latin typeface="맑은 고딕"/>
                        </a:rPr>
                        <a:t>Playwright로 실제 브라우저 렌더링 캡처 → 하이라이트 39개, 필터·모달 정상 확인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구현 결과 ③ — 검색 품질 검증 (PRD 6.2 성공 지표)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08760"/>
          <a:ext cx="1088135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640"/>
                <a:gridCol w="3627120"/>
                <a:gridCol w="3022599"/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평가 항목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맑은 고딕"/>
                        </a:rPr>
                        <a:t>PRD 6.2 목표</a:t>
                      </a:r>
                    </a:p>
                  </a:txBody>
                  <a:tcPr anchor="ctr">
                    <a:solidFill>
                      <a:srgbClr val="091F4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검색 성공률 (주요 키워드 15개, 상위5건 내 노출)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15 / 15  (100%)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상위 5건 내 노출  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평균 응답 시간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0.054초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평균 3초 이내  ✅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최대 응답 시간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0.096초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검색 튜닝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BM25 한글 1글자 토큰 노이즈 발견·수정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원클릭 데이터 갱신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refresh_all.py 검증 완료 (부분갱신 37.6초)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DR-05  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담당부서·연락처 검수 자료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140개 조합 CSV/Markdown 추출 완료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7233B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운영 매뉴얼 요약 (MANUAL.md)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813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최초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8132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7233B"/>
                </a:solidFill>
                <a:latin typeface="맑은 고딕"/>
              </a:rPr>
              <a:t>pip install sentence-transformers chromadb fastapi uvicorn (한 번만)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500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평상시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5000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7233B"/>
                </a:solidFill>
                <a:latin typeface="맑은 고딕"/>
              </a:rPr>
              <a:t>python -m uvicorn scripts.api_server:app --port 8000 → 브라우저 접속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186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규정 개정 시 갱신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1868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7233B"/>
                </a:solidFill>
                <a:latin typeface="맑은 고딕"/>
              </a:rPr>
              <a:t>python scripts/refresh_all.py (전체) 또는 --skip-collect --name (부분, 1분 이내)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0873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검색 품질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08736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7233B"/>
                </a:solidFill>
                <a:latin typeface="맑은 고딕"/>
              </a:rPr>
              <a:t>python scripts/evaluate_search.py → 성공률·응답시간 자동 리포트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9560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91F46"/>
                </a:solidFill>
                <a:latin typeface="맑은 고딕"/>
              </a:rPr>
              <a:t>담당부서 연락처 검수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956048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7233B"/>
                </a:solidFill>
                <a:latin typeface="맑은 고딕"/>
              </a:rPr>
              <a:t>python scripts/export_contacts.py → CSV/MD로 총무과·산학연구과 회신 요청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91F4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03520" cy="4023360"/>
          </a:xfrm>
          <a:prstGeom prst="roundRect">
            <a:avLst/>
          </a:prstGeom>
          <a:solidFill>
            <a:srgbClr val="09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행정 서비스 개선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대학·산학협력단 규정 통합 검색 환경 구축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규정 + 담당부서를 원스톱으로 확인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규정 개정 시 원클릭 데이터 갱신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023360"/>
          </a:xfrm>
          <a:prstGeom prst="roundRect">
            <a:avLst/>
          </a:prstGeom>
          <a:solidFill>
            <a:srgbClr val="00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맑은 고딕"/>
              </a:rPr>
              <a:t>학내 구성원 편의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복잡한 규정 체계에서 필요한 정보를 신속·정확하게 습득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키워드뿐 아니라 자연어 질문으로도 검색 가능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맑은 고딕"/>
              </a:rPr>
              <a:t>•  검색 성공률 100%, 평균 응답 0.05초의 빠른 검색 경험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5C6B82"/>
                </a:solidFill>
                <a:latin typeface="맑은 고딕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1F46"/>
              </a:gs>
              <a:gs pos="100000">
                <a:srgbClr val="009ED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</a:rPr>
              <a:t>AI 기반 대학·산학협력단 규정집 통합 검색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DDEEFB"/>
                </a:solidFill>
                <a:latin typeface="맑은 고딕"/>
              </a:rPr>
              <a:t>문의 : 정보전산처(시스템 운영) · 총무과 055-772-0334(대학 규정) · 산학연구과 055-772-0211(산학협력단 규정)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8DEF2"/>
                </a:solidFill>
                <a:latin typeface="맑은 고딕"/>
              </a:rPr>
              <a:t>참고 문서 : PRD.md · TASKS.md · README.md · MANUAL.md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